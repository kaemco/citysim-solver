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88952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0016E0-38E7-55C2-653C-4E6080164A0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A25D7B-436B-727D-C5BF-05B7B4987C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8784E1-6250-D1F4-332A-81D6DC94F9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D9F39A-4708-90C8-EEC8-1C9AD6E188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2782D1-A1A4-8F52-36DA-B7335C7107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795D1D-16DF-8C17-9211-CF6920EDB3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70133C-4755-4A4C-203A-F355652CC05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15D8D8-3D2D-3163-ED54-5C54548EF9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834371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2844245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3510089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424697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4048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4586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6799190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83897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5587316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53714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2457882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8522134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120883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923514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550335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6868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2369486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9271402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5918906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5525935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32496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94822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171465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9292031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9846891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1057026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9621079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8144518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016406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7148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92763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4094229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958142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628646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7875107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774908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162731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02681637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5587363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2655271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2750352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7896488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137827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5281468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73761953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3722225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6801425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0585273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7014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834397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237874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1894232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50748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21358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6706249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198143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2035088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515932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941771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7153725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2163168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6848978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706705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70404" name="Rectangle 1"/>
          <p:cNvSpPr/>
          <p:nvPr/>
        </p:nvSpPr>
        <p:spPr bwMode="auto">
          <a:xfrm>
            <a:off x="0" y="2377440"/>
            <a:ext cx="12188952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3189130" name="Rectangle 2"/>
          <p:cNvSpPr/>
          <p:nvPr/>
        </p:nvSpPr>
        <p:spPr bwMode="auto">
          <a:xfrm>
            <a:off x="0" y="2377440"/>
            <a:ext cx="109728" cy="2194560"/>
          </a:xfrm>
          <a:prstGeom prst="rect">
            <a:avLst/>
          </a:prstGeom>
          <a:solidFill>
            <a:srgbClr val="53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1730606" name="TextBox 3"/>
          <p:cNvSpPr txBox="1"/>
          <p:nvPr/>
        </p:nvSpPr>
        <p:spPr bwMode="auto">
          <a:xfrm>
            <a:off x="228600" y="25146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3600" b="1" i="0">
                <a:solidFill>
                  <a:srgbClr val="53B8FF"/>
                </a:solidFill>
              </a:rPr>
              <a:t>Gaussian Plume Dispersion Model</a:t>
            </a:r>
            <a:endParaRPr/>
          </a:p>
        </p:txBody>
      </p:sp>
      <p:sp>
        <p:nvSpPr>
          <p:cNvPr id="1149568451" name="TextBox 4"/>
          <p:cNvSpPr txBox="1"/>
          <p:nvPr/>
        </p:nvSpPr>
        <p:spPr bwMode="auto">
          <a:xfrm>
            <a:off x="228600" y="33375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200" b="0" i="0">
                <a:solidFill>
                  <a:srgbClr val="FFFFFF"/>
                </a:solidFill>
              </a:rPr>
              <a:t>Physical Equations &amp; Coefficients</a:t>
            </a:r>
            <a:endParaRPr/>
          </a:p>
        </p:txBody>
      </p:sp>
      <p:sp>
        <p:nvSpPr>
          <p:cNvPr id="225931915" name="TextBox 5"/>
          <p:cNvSpPr txBox="1"/>
          <p:nvPr/>
        </p:nvSpPr>
        <p:spPr bwMode="auto">
          <a:xfrm>
            <a:off x="228600" y="3931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400" b="0" i="1">
                <a:solidFill>
                  <a:srgbClr val="B0B8C8"/>
                </a:solidFill>
              </a:rPr>
              <a:t>CitySim · pollutant.cpp</a:t>
            </a:r>
            <a:endParaRPr/>
          </a:p>
        </p:txBody>
      </p:sp>
      <p:sp>
        <p:nvSpPr>
          <p:cNvPr id="346442886" name="Rectangle 6"/>
          <p:cNvSpPr/>
          <p:nvPr/>
        </p:nvSpPr>
        <p:spPr bwMode="auto">
          <a:xfrm>
            <a:off x="0" y="6492240"/>
            <a:ext cx="12188952" cy="365760"/>
          </a:xfrm>
          <a:prstGeom prst="rect">
            <a:avLst/>
          </a:prstGeom>
          <a:solidFill>
            <a:srgbClr val="53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5002550" name="Rectangle 1"/>
          <p:cNvSpPr/>
          <p:nvPr/>
        </p:nvSpPr>
        <p:spPr bwMode="auto">
          <a:xfrm>
            <a:off x="0" y="0"/>
            <a:ext cx="12188952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9308053" name="Rectangle 2"/>
          <p:cNvSpPr/>
          <p:nvPr/>
        </p:nvSpPr>
        <p:spPr bwMode="auto">
          <a:xfrm>
            <a:off x="0" y="0"/>
            <a:ext cx="54864" cy="777240"/>
          </a:xfrm>
          <a:prstGeom prst="rect">
            <a:avLst/>
          </a:prstGeom>
          <a:solidFill>
            <a:srgbClr val="53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0343503" name="TextBox 3"/>
          <p:cNvSpPr txBox="1"/>
          <p:nvPr/>
        </p:nvSpPr>
        <p:spPr bwMode="auto">
          <a:xfrm>
            <a:off x="164592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53B8FF"/>
                </a:solidFill>
              </a:rPr>
              <a:t>1 · Coordinate Rotation into Wind Frame</a:t>
            </a:r>
            <a:endParaRPr/>
          </a:p>
        </p:txBody>
      </p:sp>
      <p:sp>
        <p:nvSpPr>
          <p:cNvPr id="1683362049" name="TextBox 4"/>
          <p:cNvSpPr txBox="1"/>
          <p:nvPr/>
        </p:nvSpPr>
        <p:spPr bwMode="auto">
          <a:xfrm>
            <a:off x="365760" y="9144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1">
                <a:solidFill>
                  <a:srgbClr val="B0B8C8"/>
                </a:solidFill>
              </a:rPr>
              <a:t>Meteorological convention:  φ  is the direction FROM which the wind blows</a:t>
            </a:r>
            <a:endParaRPr/>
          </a:p>
        </p:txBody>
      </p:sp>
      <p:pic>
        <p:nvPicPr>
          <p:cNvPr id="369842880" name="Picture 5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161536" y="1145540"/>
            <a:ext cx="3865880" cy="543560"/>
          </a:xfrm>
          <a:prstGeom prst="rect">
            <a:avLst/>
          </a:prstGeom>
        </p:spPr>
      </p:pic>
      <p:sp>
        <p:nvSpPr>
          <p:cNvPr id="1599878354" name="TextBox 6"/>
          <p:cNvSpPr txBox="1"/>
          <p:nvPr/>
        </p:nvSpPr>
        <p:spPr bwMode="auto">
          <a:xfrm>
            <a:off x="274320" y="1801367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0" i="1">
                <a:solidFill>
                  <a:srgbClr val="B0B8C8"/>
                </a:solidFill>
              </a:rPr>
              <a:t>Wind unit vector components (world frame)</a:t>
            </a:r>
            <a:endParaRPr/>
          </a:p>
        </p:txBody>
      </p:sp>
      <p:pic>
        <p:nvPicPr>
          <p:cNvPr id="943217230" name="Picture 7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227577" y="2034540"/>
            <a:ext cx="3733799" cy="502918"/>
          </a:xfrm>
          <a:prstGeom prst="rect">
            <a:avLst/>
          </a:prstGeom>
        </p:spPr>
      </p:pic>
      <p:sp>
        <p:nvSpPr>
          <p:cNvPr id="1237008185" name="TextBox 8"/>
          <p:cNvSpPr txBox="1"/>
          <p:nvPr/>
        </p:nvSpPr>
        <p:spPr bwMode="auto">
          <a:xfrm>
            <a:off x="274320" y="267004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0" i="1">
                <a:solidFill>
                  <a:srgbClr val="B0B8C8"/>
                </a:solidFill>
              </a:rPr>
              <a:t>Emittor → receptor vector components</a:t>
            </a:r>
            <a:endParaRPr/>
          </a:p>
        </p:txBody>
      </p:sp>
      <p:pic>
        <p:nvPicPr>
          <p:cNvPr id="1715493638" name="Picture 9" descr="imag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072636" y="2951480"/>
            <a:ext cx="4043680" cy="497840"/>
          </a:xfrm>
          <a:prstGeom prst="rect">
            <a:avLst/>
          </a:prstGeom>
        </p:spPr>
      </p:pic>
      <p:sp>
        <p:nvSpPr>
          <p:cNvPr id="570162717" name="TextBox 10"/>
          <p:cNvSpPr txBox="1"/>
          <p:nvPr/>
        </p:nvSpPr>
        <p:spPr bwMode="auto">
          <a:xfrm>
            <a:off x="274320" y="358444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0" i="1">
                <a:solidFill>
                  <a:srgbClr val="B0B8C8"/>
                </a:solidFill>
              </a:rPr>
              <a:t>Downwind distance  [m]</a:t>
            </a:r>
            <a:endParaRPr/>
          </a:p>
        </p:txBody>
      </p:sp>
      <p:pic>
        <p:nvPicPr>
          <p:cNvPr id="322801010" name="Picture 11" descr="image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3938016" y="3863340"/>
            <a:ext cx="4312920" cy="502920"/>
          </a:xfrm>
          <a:prstGeom prst="rect">
            <a:avLst/>
          </a:prstGeom>
        </p:spPr>
      </p:pic>
      <p:sp>
        <p:nvSpPr>
          <p:cNvPr id="1430816154" name="TextBox 12"/>
          <p:cNvSpPr txBox="1"/>
          <p:nvPr/>
        </p:nvSpPr>
        <p:spPr bwMode="auto">
          <a:xfrm>
            <a:off x="274320" y="449884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0" i="1">
                <a:solidFill>
                  <a:srgbClr val="B0B8C8"/>
                </a:solidFill>
              </a:rPr>
              <a:t>Crosswind offset  [m]</a:t>
            </a:r>
            <a:endParaRPr/>
          </a:p>
        </p:txBody>
      </p:sp>
      <p:sp>
        <p:nvSpPr>
          <p:cNvPr id="169295324" name="Rectangle 13"/>
          <p:cNvSpPr/>
          <p:nvPr/>
        </p:nvSpPr>
        <p:spPr bwMode="auto">
          <a:xfrm flipH="0" flipV="1">
            <a:off x="274320" y="5074920"/>
            <a:ext cx="11612880" cy="45720"/>
          </a:xfrm>
          <a:prstGeom prst="rect">
            <a:avLst/>
          </a:prstGeom>
          <a:solidFill>
            <a:srgbClr val="53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6876320" name="TextBox 14"/>
          <p:cNvSpPr txBox="1"/>
          <p:nvPr/>
        </p:nvSpPr>
        <p:spPr bwMode="auto">
          <a:xfrm>
            <a:off x="274320" y="5166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400" b="0" i="0">
                <a:solidFill>
                  <a:srgbClr val="FFD700"/>
                </a:solidFill>
              </a:rPr>
              <a:t>If  x ≤ 0  →  receptor is upwind  →  C = 0.   Otherwise  x = max(x, x_min)</a:t>
            </a:r>
            <a:endParaRPr/>
          </a:p>
        </p:txBody>
      </p:sp>
      <p:sp>
        <p:nvSpPr>
          <p:cNvPr id="1594145410" name="TextBox 15"/>
          <p:cNvSpPr txBox="1"/>
          <p:nvPr/>
        </p:nvSpPr>
        <p:spPr bwMode="auto">
          <a:xfrm>
            <a:off x="9601200" y="56692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0" i="0">
                <a:solidFill>
                  <a:srgbClr val="B0B8C8"/>
                </a:solidFill>
              </a:rPr>
              <a:t>North</a:t>
            </a:r>
            <a:endParaRPr/>
          </a:p>
        </p:txBody>
      </p:sp>
      <p:sp>
        <p:nvSpPr>
          <p:cNvPr id="329914534" name="TextBox 16"/>
          <p:cNvSpPr txBox="1"/>
          <p:nvPr/>
        </p:nvSpPr>
        <p:spPr bwMode="auto">
          <a:xfrm>
            <a:off x="9601200" y="5943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0" i="0">
                <a:solidFill>
                  <a:srgbClr val="B0B8C8"/>
                </a:solidFill>
              </a:rPr>
              <a:t>↑  y-world</a:t>
            </a:r>
            <a:endParaRPr/>
          </a:p>
        </p:txBody>
      </p:sp>
      <p:sp>
        <p:nvSpPr>
          <p:cNvPr id="1984717944" name="TextBox 17"/>
          <p:cNvSpPr txBox="1"/>
          <p:nvPr/>
        </p:nvSpPr>
        <p:spPr bwMode="auto">
          <a:xfrm>
            <a:off x="9601200" y="6263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0" i="0">
                <a:solidFill>
                  <a:srgbClr val="B0B8C8"/>
                </a:solidFill>
              </a:rPr>
              <a:t>→  x-world</a:t>
            </a:r>
            <a:endParaRPr/>
          </a:p>
        </p:txBody>
      </p:sp>
      <p:sp>
        <p:nvSpPr>
          <p:cNvPr id="573935563" name="TextBox 18"/>
          <p:cNvSpPr txBox="1"/>
          <p:nvPr/>
        </p:nvSpPr>
        <p:spPr bwMode="auto">
          <a:xfrm>
            <a:off x="8229600" y="5943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53B8FF"/>
                </a:solidFill>
              </a:rPr>
              <a:t>↗  downwind (x∥)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933314" name="Rectangle 1"/>
          <p:cNvSpPr/>
          <p:nvPr/>
        </p:nvSpPr>
        <p:spPr bwMode="auto">
          <a:xfrm>
            <a:off x="0" y="0"/>
            <a:ext cx="12188952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0774727" name="Rectangle 2"/>
          <p:cNvSpPr/>
          <p:nvPr/>
        </p:nvSpPr>
        <p:spPr bwMode="auto">
          <a:xfrm>
            <a:off x="0" y="0"/>
            <a:ext cx="54864" cy="777240"/>
          </a:xfrm>
          <a:prstGeom prst="rect">
            <a:avLst/>
          </a:prstGeom>
          <a:solidFill>
            <a:srgbClr val="53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2780448" name="TextBox 3"/>
          <p:cNvSpPr txBox="1"/>
          <p:nvPr/>
        </p:nvSpPr>
        <p:spPr bwMode="auto">
          <a:xfrm>
            <a:off x="164592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53B8FF"/>
                </a:solidFill>
              </a:rPr>
              <a:t>2 · Wind Speed — Logarithmic Profile</a:t>
            </a:r>
            <a:endParaRPr/>
          </a:p>
        </p:txBody>
      </p:sp>
      <p:pic>
        <p:nvPicPr>
          <p:cNvPr id="831152219" name="Picture 4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480816" y="1732281"/>
            <a:ext cx="5227320" cy="741679"/>
          </a:xfrm>
          <a:prstGeom prst="rect">
            <a:avLst/>
          </a:prstGeom>
        </p:spPr>
      </p:pic>
      <p:pic>
        <p:nvPicPr>
          <p:cNvPr id="1416635703" name="Picture 5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917696" y="3040380"/>
            <a:ext cx="4353560" cy="502920"/>
          </a:xfrm>
          <a:prstGeom prst="rect">
            <a:avLst/>
          </a:prstGeom>
        </p:spPr>
      </p:pic>
      <p:sp>
        <p:nvSpPr>
          <p:cNvPr id="793806157" name="TextBox 6"/>
          <p:cNvSpPr txBox="1"/>
          <p:nvPr/>
        </p:nvSpPr>
        <p:spPr bwMode="auto">
          <a:xfrm>
            <a:off x="1097280" y="4114800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53B8FF"/>
                </a:solidFill>
              </a:rPr>
              <a:t>  u_ref</a:t>
            </a:r>
            <a:endParaRPr/>
          </a:p>
        </p:txBody>
      </p:sp>
      <p:sp>
        <p:nvSpPr>
          <p:cNvPr id="2126414983" name="TextBox 7"/>
          <p:cNvSpPr txBox="1"/>
          <p:nvPr/>
        </p:nvSpPr>
        <p:spPr bwMode="auto">
          <a:xfrm>
            <a:off x="2743200" y="4114800"/>
            <a:ext cx="8686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B0B8C8"/>
                </a:solidFill>
              </a:rPr>
              <a:t>Climate wind speed at reference height</a:t>
            </a:r>
            <a:endParaRPr/>
          </a:p>
        </p:txBody>
      </p:sp>
      <p:sp>
        <p:nvSpPr>
          <p:cNvPr id="1752023969" name="TextBox 8"/>
          <p:cNvSpPr txBox="1"/>
          <p:nvPr/>
        </p:nvSpPr>
        <p:spPr bwMode="auto">
          <a:xfrm>
            <a:off x="1097280" y="446227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53B8FF"/>
                </a:solidFill>
              </a:rPr>
              <a:t>  h_ref</a:t>
            </a:r>
            <a:endParaRPr/>
          </a:p>
        </p:txBody>
      </p:sp>
      <p:sp>
        <p:nvSpPr>
          <p:cNvPr id="1739703227" name="TextBox 9"/>
          <p:cNvSpPr txBox="1"/>
          <p:nvPr/>
        </p:nvSpPr>
        <p:spPr bwMode="auto">
          <a:xfrm>
            <a:off x="2743200" y="4462272"/>
            <a:ext cx="8686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B0B8C8"/>
                </a:solidFill>
              </a:rPr>
              <a:t>Reference height  (default 10 m)</a:t>
            </a:r>
            <a:endParaRPr/>
          </a:p>
        </p:txBody>
      </p:sp>
      <p:sp>
        <p:nvSpPr>
          <p:cNvPr id="138965085" name="TextBox 10"/>
          <p:cNvSpPr txBox="1"/>
          <p:nvPr/>
        </p:nvSpPr>
        <p:spPr bwMode="auto">
          <a:xfrm>
            <a:off x="1097280" y="4809744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53B8FF"/>
                </a:solidFill>
              </a:rPr>
              <a:t>  z₀</a:t>
            </a:r>
            <a:endParaRPr/>
          </a:p>
        </p:txBody>
      </p:sp>
      <p:sp>
        <p:nvSpPr>
          <p:cNvPr id="2104197650" name="TextBox 11"/>
          <p:cNvSpPr txBox="1"/>
          <p:nvPr/>
        </p:nvSpPr>
        <p:spPr bwMode="auto">
          <a:xfrm>
            <a:off x="2743200" y="4809744"/>
            <a:ext cx="8686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B0B8C8"/>
                </a:solidFill>
              </a:rPr>
              <a:t>Aerodynamic roughness length  (m)</a:t>
            </a:r>
            <a:endParaRPr/>
          </a:p>
        </p:txBody>
      </p:sp>
      <p:sp>
        <p:nvSpPr>
          <p:cNvPr id="57484150" name="TextBox 12"/>
          <p:cNvSpPr txBox="1"/>
          <p:nvPr/>
        </p:nvSpPr>
        <p:spPr bwMode="auto">
          <a:xfrm>
            <a:off x="1097280" y="5157216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53B8FF"/>
                </a:solidFill>
              </a:rPr>
              <a:t>  u_min</a:t>
            </a:r>
            <a:endParaRPr/>
          </a:p>
        </p:txBody>
      </p:sp>
      <p:sp>
        <p:nvSpPr>
          <p:cNvPr id="581841762" name="TextBox 13"/>
          <p:cNvSpPr txBox="1"/>
          <p:nvPr/>
        </p:nvSpPr>
        <p:spPr bwMode="auto">
          <a:xfrm>
            <a:off x="2743200" y="5157216"/>
            <a:ext cx="8686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B0B8C8"/>
                </a:solidFill>
              </a:rPr>
              <a:t>Minimum wind speed floor  (default 0.5 m/s)</a:t>
            </a:r>
            <a:endParaRPr/>
          </a:p>
        </p:txBody>
      </p:sp>
      <p:sp>
        <p:nvSpPr>
          <p:cNvPr id="545753666" name="TextBox 14"/>
          <p:cNvSpPr txBox="1"/>
          <p:nvPr/>
        </p:nvSpPr>
        <p:spPr bwMode="auto">
          <a:xfrm>
            <a:off x="1097280" y="5504687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53B8FF"/>
                </a:solidFill>
              </a:rPr>
              <a:t>  z_e</a:t>
            </a:r>
            <a:endParaRPr/>
          </a:p>
        </p:txBody>
      </p:sp>
      <p:sp>
        <p:nvSpPr>
          <p:cNvPr id="1054337257" name="TextBox 15"/>
          <p:cNvSpPr txBox="1"/>
          <p:nvPr/>
        </p:nvSpPr>
        <p:spPr bwMode="auto">
          <a:xfrm>
            <a:off x="2743200" y="5504687"/>
            <a:ext cx="8686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B0B8C8"/>
                </a:solidFill>
              </a:rPr>
              <a:t>Emittor elevation  (m)</a:t>
            </a:r>
            <a:endParaRPr/>
          </a:p>
        </p:txBody>
      </p:sp>
      <p:sp>
        <p:nvSpPr>
          <p:cNvPr id="637766377" name="TextBox 16"/>
          <p:cNvSpPr txBox="1"/>
          <p:nvPr/>
        </p:nvSpPr>
        <p:spPr bwMode="auto">
          <a:xfrm>
            <a:off x="1097280" y="5852160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53B8FF"/>
                </a:solidFill>
              </a:rPr>
              <a:t>  Δz_plume</a:t>
            </a:r>
            <a:endParaRPr/>
          </a:p>
        </p:txBody>
      </p:sp>
      <p:sp>
        <p:nvSpPr>
          <p:cNvPr id="1157426769" name="TextBox 17"/>
          <p:cNvSpPr txBox="1"/>
          <p:nvPr/>
        </p:nvSpPr>
        <p:spPr bwMode="auto">
          <a:xfrm>
            <a:off x="2743200" y="5852160"/>
            <a:ext cx="8686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B0B8C8"/>
                </a:solidFill>
              </a:rPr>
              <a:t>User-prescribed plume rise  (m)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78769" name="Rectangle 1"/>
          <p:cNvSpPr/>
          <p:nvPr/>
        </p:nvSpPr>
        <p:spPr bwMode="auto">
          <a:xfrm>
            <a:off x="0" y="0"/>
            <a:ext cx="12188952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429495" name="Rectangle 2"/>
          <p:cNvSpPr/>
          <p:nvPr/>
        </p:nvSpPr>
        <p:spPr bwMode="auto">
          <a:xfrm>
            <a:off x="0" y="0"/>
            <a:ext cx="54864" cy="777240"/>
          </a:xfrm>
          <a:prstGeom prst="rect">
            <a:avLst/>
          </a:prstGeom>
          <a:solidFill>
            <a:srgbClr val="53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9787709" name="TextBox 3"/>
          <p:cNvSpPr txBox="1"/>
          <p:nvPr/>
        </p:nvSpPr>
        <p:spPr bwMode="auto">
          <a:xfrm>
            <a:off x="164592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53B8FF"/>
                </a:solidFill>
              </a:rPr>
              <a:t>3 · Pasquill Stability Class  (AUTO mode)</a:t>
            </a:r>
            <a:endParaRPr/>
          </a:p>
        </p:txBody>
      </p:sp>
      <p:sp>
        <p:nvSpPr>
          <p:cNvPr id="21402767" name="TextBox 4"/>
          <p:cNvSpPr txBox="1"/>
          <p:nvPr/>
        </p:nvSpPr>
        <p:spPr bwMode="auto"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500" b="0" i="1">
                <a:solidFill>
                  <a:srgbClr val="B0B8C8"/>
                </a:solidFill>
              </a:rPr>
              <a:t>Determined from global horizontal irradiance  I_gh  and wind speed  u</a:t>
            </a:r>
            <a:endParaRPr/>
          </a:p>
        </p:txBody>
      </p:sp>
      <p:sp>
        <p:nvSpPr>
          <p:cNvPr id="1821766230" name="Rectangle 5"/>
          <p:cNvSpPr/>
          <p:nvPr/>
        </p:nvSpPr>
        <p:spPr bwMode="auto">
          <a:xfrm>
            <a:off x="274320" y="1417320"/>
            <a:ext cx="10058400" cy="475488"/>
          </a:xfrm>
          <a:prstGeom prst="rect">
            <a:avLst/>
          </a:prstGeom>
          <a:solidFill>
            <a:srgbClr val="53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6498623" name="TextBox 6"/>
          <p:cNvSpPr txBox="1"/>
          <p:nvPr/>
        </p:nvSpPr>
        <p:spPr bwMode="auto">
          <a:xfrm>
            <a:off x="320040" y="1490472"/>
            <a:ext cx="3749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000000"/>
                </a:solidFill>
              </a:rPr>
              <a:t>Condition</a:t>
            </a:r>
            <a:endParaRPr/>
          </a:p>
        </p:txBody>
      </p:sp>
      <p:sp>
        <p:nvSpPr>
          <p:cNvPr id="1578055416" name="TextBox 7"/>
          <p:cNvSpPr txBox="1"/>
          <p:nvPr/>
        </p:nvSpPr>
        <p:spPr bwMode="auto">
          <a:xfrm>
            <a:off x="4160519" y="1490472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000000"/>
                </a:solidFill>
              </a:rPr>
              <a:t>u &lt; 2 m/s</a:t>
            </a:r>
            <a:endParaRPr/>
          </a:p>
        </p:txBody>
      </p:sp>
      <p:sp>
        <p:nvSpPr>
          <p:cNvPr id="531222764" name="TextBox 8"/>
          <p:cNvSpPr txBox="1"/>
          <p:nvPr/>
        </p:nvSpPr>
        <p:spPr bwMode="auto">
          <a:xfrm>
            <a:off x="5715000" y="1490472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000000"/>
                </a:solidFill>
              </a:rPr>
              <a:t>2 ≤ u &lt; 3</a:t>
            </a:r>
            <a:endParaRPr/>
          </a:p>
        </p:txBody>
      </p:sp>
      <p:sp>
        <p:nvSpPr>
          <p:cNvPr id="880723402" name="TextBox 9"/>
          <p:cNvSpPr txBox="1"/>
          <p:nvPr/>
        </p:nvSpPr>
        <p:spPr bwMode="auto">
          <a:xfrm>
            <a:off x="7269480" y="1490472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000000"/>
                </a:solidFill>
              </a:rPr>
              <a:t>3 ≤ u &lt; 5</a:t>
            </a:r>
            <a:endParaRPr/>
          </a:p>
        </p:txBody>
      </p:sp>
      <p:sp>
        <p:nvSpPr>
          <p:cNvPr id="120639408" name="TextBox 10"/>
          <p:cNvSpPr txBox="1"/>
          <p:nvPr/>
        </p:nvSpPr>
        <p:spPr bwMode="auto">
          <a:xfrm>
            <a:off x="8823960" y="1490472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000000"/>
                </a:solidFill>
              </a:rPr>
              <a:t>u ≥ 5</a:t>
            </a:r>
            <a:endParaRPr/>
          </a:p>
        </p:txBody>
      </p:sp>
      <p:sp>
        <p:nvSpPr>
          <p:cNvPr id="344069894" name="Rectangle 11"/>
          <p:cNvSpPr/>
          <p:nvPr/>
        </p:nvSpPr>
        <p:spPr bwMode="auto">
          <a:xfrm>
            <a:off x="274320" y="1892808"/>
            <a:ext cx="1005840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643156" name="TextBox 12"/>
          <p:cNvSpPr txBox="1"/>
          <p:nvPr/>
        </p:nvSpPr>
        <p:spPr bwMode="auto">
          <a:xfrm>
            <a:off x="320040" y="1965960"/>
            <a:ext cx="3749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0" i="0">
                <a:solidFill>
                  <a:srgbClr val="B0B8C8"/>
                </a:solidFill>
              </a:rPr>
              <a:t>I_gh &gt; 600 W/m²  (strong sun)</a:t>
            </a:r>
            <a:endParaRPr/>
          </a:p>
        </p:txBody>
      </p:sp>
      <p:sp>
        <p:nvSpPr>
          <p:cNvPr id="2044395072" name="TextBox 13"/>
          <p:cNvSpPr txBox="1"/>
          <p:nvPr/>
        </p:nvSpPr>
        <p:spPr bwMode="auto">
          <a:xfrm>
            <a:off x="4160519" y="1965960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FF6B6B"/>
                </a:solidFill>
              </a:rPr>
              <a:t>A</a:t>
            </a:r>
            <a:endParaRPr/>
          </a:p>
        </p:txBody>
      </p:sp>
      <p:sp>
        <p:nvSpPr>
          <p:cNvPr id="968794911" name="TextBox 14"/>
          <p:cNvSpPr txBox="1"/>
          <p:nvPr/>
        </p:nvSpPr>
        <p:spPr bwMode="auto">
          <a:xfrm>
            <a:off x="5715000" y="1965960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FFA500"/>
                </a:solidFill>
              </a:rPr>
              <a:t>B</a:t>
            </a:r>
            <a:endParaRPr/>
          </a:p>
        </p:txBody>
      </p:sp>
      <p:sp>
        <p:nvSpPr>
          <p:cNvPr id="1842307829" name="TextBox 15"/>
          <p:cNvSpPr txBox="1"/>
          <p:nvPr/>
        </p:nvSpPr>
        <p:spPr bwMode="auto">
          <a:xfrm>
            <a:off x="7269480" y="1965960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FFD700"/>
                </a:solidFill>
              </a:rPr>
              <a:t>C</a:t>
            </a:r>
            <a:endParaRPr/>
          </a:p>
        </p:txBody>
      </p:sp>
      <p:sp>
        <p:nvSpPr>
          <p:cNvPr id="778444172" name="TextBox 16"/>
          <p:cNvSpPr txBox="1"/>
          <p:nvPr/>
        </p:nvSpPr>
        <p:spPr bwMode="auto">
          <a:xfrm>
            <a:off x="8823960" y="1965960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53B8FF"/>
                </a:solidFill>
              </a:rPr>
              <a:t>D</a:t>
            </a:r>
            <a:endParaRPr/>
          </a:p>
        </p:txBody>
      </p:sp>
      <p:sp>
        <p:nvSpPr>
          <p:cNvPr id="1947134699" name="Rectangle 17"/>
          <p:cNvSpPr/>
          <p:nvPr/>
        </p:nvSpPr>
        <p:spPr bwMode="auto">
          <a:xfrm>
            <a:off x="274320" y="2368296"/>
            <a:ext cx="10058400" cy="47548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517409" name="TextBox 18"/>
          <p:cNvSpPr txBox="1"/>
          <p:nvPr/>
        </p:nvSpPr>
        <p:spPr bwMode="auto">
          <a:xfrm>
            <a:off x="320040" y="2441448"/>
            <a:ext cx="3749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0" i="0">
                <a:solidFill>
                  <a:srgbClr val="B0B8C8"/>
                </a:solidFill>
              </a:rPr>
              <a:t>300 &lt; I_gh ≤ 600  (moderate sun)</a:t>
            </a:r>
            <a:endParaRPr/>
          </a:p>
        </p:txBody>
      </p:sp>
      <p:sp>
        <p:nvSpPr>
          <p:cNvPr id="1063756157" name="TextBox 19"/>
          <p:cNvSpPr txBox="1"/>
          <p:nvPr/>
        </p:nvSpPr>
        <p:spPr bwMode="auto">
          <a:xfrm>
            <a:off x="4160519" y="2441448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FFA500"/>
                </a:solidFill>
              </a:rPr>
              <a:t>B</a:t>
            </a:r>
            <a:endParaRPr/>
          </a:p>
        </p:txBody>
      </p:sp>
      <p:sp>
        <p:nvSpPr>
          <p:cNvPr id="360262832" name="TextBox 20"/>
          <p:cNvSpPr txBox="1"/>
          <p:nvPr/>
        </p:nvSpPr>
        <p:spPr bwMode="auto">
          <a:xfrm>
            <a:off x="5715000" y="2441448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FFD700"/>
                </a:solidFill>
              </a:rPr>
              <a:t>C</a:t>
            </a:r>
            <a:endParaRPr/>
          </a:p>
        </p:txBody>
      </p:sp>
      <p:sp>
        <p:nvSpPr>
          <p:cNvPr id="1560180238" name="TextBox 21"/>
          <p:cNvSpPr txBox="1"/>
          <p:nvPr/>
        </p:nvSpPr>
        <p:spPr bwMode="auto">
          <a:xfrm>
            <a:off x="7269480" y="2441448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53B8FF"/>
                </a:solidFill>
              </a:rPr>
              <a:t>D</a:t>
            </a:r>
            <a:endParaRPr/>
          </a:p>
        </p:txBody>
      </p:sp>
      <p:sp>
        <p:nvSpPr>
          <p:cNvPr id="1747955854" name="TextBox 22"/>
          <p:cNvSpPr txBox="1"/>
          <p:nvPr/>
        </p:nvSpPr>
        <p:spPr bwMode="auto">
          <a:xfrm>
            <a:off x="8823960" y="2441448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53B8FF"/>
                </a:solidFill>
              </a:rPr>
              <a:t>D</a:t>
            </a:r>
            <a:endParaRPr/>
          </a:p>
        </p:txBody>
      </p:sp>
      <p:sp>
        <p:nvSpPr>
          <p:cNvPr id="1199316301" name="Rectangle 23"/>
          <p:cNvSpPr/>
          <p:nvPr/>
        </p:nvSpPr>
        <p:spPr bwMode="auto">
          <a:xfrm>
            <a:off x="274320" y="2843784"/>
            <a:ext cx="1005840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3102070" name="TextBox 24"/>
          <p:cNvSpPr txBox="1"/>
          <p:nvPr/>
        </p:nvSpPr>
        <p:spPr bwMode="auto">
          <a:xfrm>
            <a:off x="320040" y="2916936"/>
            <a:ext cx="3749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0" i="0">
                <a:solidFill>
                  <a:srgbClr val="B0B8C8"/>
                </a:solidFill>
              </a:rPr>
              <a:t>10 &lt; I_gh ≤ 300  (weak sun)</a:t>
            </a:r>
            <a:endParaRPr/>
          </a:p>
        </p:txBody>
      </p:sp>
      <p:sp>
        <p:nvSpPr>
          <p:cNvPr id="161487802" name="TextBox 25"/>
          <p:cNvSpPr txBox="1"/>
          <p:nvPr/>
        </p:nvSpPr>
        <p:spPr bwMode="auto">
          <a:xfrm>
            <a:off x="4160519" y="2916936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FFD700"/>
                </a:solidFill>
              </a:rPr>
              <a:t>C</a:t>
            </a:r>
            <a:endParaRPr/>
          </a:p>
        </p:txBody>
      </p:sp>
      <p:sp>
        <p:nvSpPr>
          <p:cNvPr id="707891330" name="TextBox 26"/>
          <p:cNvSpPr txBox="1"/>
          <p:nvPr/>
        </p:nvSpPr>
        <p:spPr bwMode="auto">
          <a:xfrm>
            <a:off x="5715000" y="2916936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53B8FF"/>
                </a:solidFill>
              </a:rPr>
              <a:t>D</a:t>
            </a:r>
            <a:endParaRPr/>
          </a:p>
        </p:txBody>
      </p:sp>
      <p:sp>
        <p:nvSpPr>
          <p:cNvPr id="1117858882" name="TextBox 27"/>
          <p:cNvSpPr txBox="1"/>
          <p:nvPr/>
        </p:nvSpPr>
        <p:spPr bwMode="auto">
          <a:xfrm>
            <a:off x="7269480" y="2916936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53B8FF"/>
                </a:solidFill>
              </a:rPr>
              <a:t>D</a:t>
            </a:r>
            <a:endParaRPr/>
          </a:p>
        </p:txBody>
      </p:sp>
      <p:sp>
        <p:nvSpPr>
          <p:cNvPr id="279046343" name="TextBox 28"/>
          <p:cNvSpPr txBox="1"/>
          <p:nvPr/>
        </p:nvSpPr>
        <p:spPr bwMode="auto">
          <a:xfrm>
            <a:off x="8823960" y="2916936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53B8FF"/>
                </a:solidFill>
              </a:rPr>
              <a:t>D</a:t>
            </a:r>
            <a:endParaRPr/>
          </a:p>
        </p:txBody>
      </p:sp>
      <p:sp>
        <p:nvSpPr>
          <p:cNvPr id="933206454" name="Rectangle 29"/>
          <p:cNvSpPr/>
          <p:nvPr/>
        </p:nvSpPr>
        <p:spPr bwMode="auto">
          <a:xfrm>
            <a:off x="274320" y="3319272"/>
            <a:ext cx="10058400" cy="47548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3101399" name="TextBox 30"/>
          <p:cNvSpPr txBox="1"/>
          <p:nvPr/>
        </p:nvSpPr>
        <p:spPr bwMode="auto">
          <a:xfrm>
            <a:off x="320040" y="3392424"/>
            <a:ext cx="3749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0" i="0">
                <a:solidFill>
                  <a:srgbClr val="B0B8C8"/>
                </a:solidFill>
              </a:rPr>
              <a:t>I_gh ≤ 10, cloud &gt; 0.5  (overcast)</a:t>
            </a:r>
            <a:endParaRPr/>
          </a:p>
        </p:txBody>
      </p:sp>
      <p:sp>
        <p:nvSpPr>
          <p:cNvPr id="784052464" name="TextBox 31"/>
          <p:cNvSpPr txBox="1"/>
          <p:nvPr/>
        </p:nvSpPr>
        <p:spPr bwMode="auto">
          <a:xfrm>
            <a:off x="4160519" y="3392424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53B8FF"/>
                </a:solidFill>
              </a:rPr>
              <a:t>D</a:t>
            </a:r>
            <a:endParaRPr/>
          </a:p>
        </p:txBody>
      </p:sp>
      <p:sp>
        <p:nvSpPr>
          <p:cNvPr id="1899529344" name="TextBox 32"/>
          <p:cNvSpPr txBox="1"/>
          <p:nvPr/>
        </p:nvSpPr>
        <p:spPr bwMode="auto">
          <a:xfrm>
            <a:off x="5715000" y="3392424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53B8FF"/>
                </a:solidFill>
              </a:rPr>
              <a:t>D</a:t>
            </a:r>
            <a:endParaRPr/>
          </a:p>
        </p:txBody>
      </p:sp>
      <p:sp>
        <p:nvSpPr>
          <p:cNvPr id="1462778024" name="TextBox 33"/>
          <p:cNvSpPr txBox="1"/>
          <p:nvPr/>
        </p:nvSpPr>
        <p:spPr bwMode="auto">
          <a:xfrm>
            <a:off x="7269480" y="3392424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53B8FF"/>
                </a:solidFill>
              </a:rPr>
              <a:t>D</a:t>
            </a:r>
            <a:endParaRPr/>
          </a:p>
        </p:txBody>
      </p:sp>
      <p:sp>
        <p:nvSpPr>
          <p:cNvPr id="1954317708" name="TextBox 34"/>
          <p:cNvSpPr txBox="1"/>
          <p:nvPr/>
        </p:nvSpPr>
        <p:spPr bwMode="auto">
          <a:xfrm>
            <a:off x="8823960" y="3392424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53B8FF"/>
                </a:solidFill>
              </a:rPr>
              <a:t>D</a:t>
            </a:r>
            <a:endParaRPr/>
          </a:p>
        </p:txBody>
      </p:sp>
      <p:sp>
        <p:nvSpPr>
          <p:cNvPr id="1512232814" name="Rectangle 35"/>
          <p:cNvSpPr/>
          <p:nvPr/>
        </p:nvSpPr>
        <p:spPr bwMode="auto">
          <a:xfrm>
            <a:off x="274320" y="3794760"/>
            <a:ext cx="1005840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6254542" name="TextBox 36"/>
          <p:cNvSpPr txBox="1"/>
          <p:nvPr/>
        </p:nvSpPr>
        <p:spPr bwMode="auto">
          <a:xfrm>
            <a:off x="320040" y="3867911"/>
            <a:ext cx="3749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0" i="0">
                <a:solidFill>
                  <a:srgbClr val="B0B8C8"/>
                </a:solidFill>
              </a:rPr>
              <a:t>I_gh ≤ 10, cloud ≤ 0.5  (clear night)</a:t>
            </a:r>
            <a:endParaRPr/>
          </a:p>
        </p:txBody>
      </p:sp>
      <p:sp>
        <p:nvSpPr>
          <p:cNvPr id="454859523" name="TextBox 37"/>
          <p:cNvSpPr txBox="1"/>
          <p:nvPr/>
        </p:nvSpPr>
        <p:spPr bwMode="auto">
          <a:xfrm>
            <a:off x="4160519" y="3867911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D0D0FF"/>
                </a:solidFill>
              </a:rPr>
              <a:t>F</a:t>
            </a:r>
            <a:endParaRPr/>
          </a:p>
        </p:txBody>
      </p:sp>
      <p:sp>
        <p:nvSpPr>
          <p:cNvPr id="1956459249" name="TextBox 38"/>
          <p:cNvSpPr txBox="1"/>
          <p:nvPr/>
        </p:nvSpPr>
        <p:spPr bwMode="auto">
          <a:xfrm>
            <a:off x="5715000" y="3867911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A0FFA0"/>
                </a:solidFill>
              </a:rPr>
              <a:t>E</a:t>
            </a:r>
            <a:endParaRPr/>
          </a:p>
        </p:txBody>
      </p:sp>
      <p:sp>
        <p:nvSpPr>
          <p:cNvPr id="339911384" name="TextBox 39"/>
          <p:cNvSpPr txBox="1"/>
          <p:nvPr/>
        </p:nvSpPr>
        <p:spPr bwMode="auto">
          <a:xfrm>
            <a:off x="7269480" y="3867911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53B8FF"/>
                </a:solidFill>
              </a:rPr>
              <a:t>D</a:t>
            </a:r>
            <a:endParaRPr/>
          </a:p>
        </p:txBody>
      </p:sp>
      <p:sp>
        <p:nvSpPr>
          <p:cNvPr id="321625539" name="TextBox 40"/>
          <p:cNvSpPr txBox="1"/>
          <p:nvPr/>
        </p:nvSpPr>
        <p:spPr bwMode="auto">
          <a:xfrm>
            <a:off x="8823960" y="3867911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53B8FF"/>
                </a:solidFill>
              </a:rPr>
              <a:t>D</a:t>
            </a:r>
            <a:endParaRPr/>
          </a:p>
        </p:txBody>
      </p:sp>
      <p:sp>
        <p:nvSpPr>
          <p:cNvPr id="433975365" name="TextBox 41"/>
          <p:cNvSpPr txBox="1"/>
          <p:nvPr/>
        </p:nvSpPr>
        <p:spPr bwMode="auto">
          <a:xfrm>
            <a:off x="274320" y="6355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0" i="1">
                <a:solidFill>
                  <a:srgbClr val="B0B8C8"/>
                </a:solidFill>
              </a:rPr>
              <a:t>A = very unstable   B = unstable   C = slightly unstable   D = neutral   E = slightly stable   F = stable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038931" name="Rectangle 1"/>
          <p:cNvSpPr/>
          <p:nvPr/>
        </p:nvSpPr>
        <p:spPr bwMode="auto">
          <a:xfrm>
            <a:off x="0" y="0"/>
            <a:ext cx="12188952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9142741" name="Rectangle 2"/>
          <p:cNvSpPr/>
          <p:nvPr/>
        </p:nvSpPr>
        <p:spPr bwMode="auto">
          <a:xfrm>
            <a:off x="0" y="0"/>
            <a:ext cx="54864" cy="777240"/>
          </a:xfrm>
          <a:prstGeom prst="rect">
            <a:avLst/>
          </a:prstGeom>
          <a:solidFill>
            <a:srgbClr val="53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0541310" name="TextBox 3"/>
          <p:cNvSpPr txBox="1"/>
          <p:nvPr/>
        </p:nvSpPr>
        <p:spPr bwMode="auto">
          <a:xfrm>
            <a:off x="164592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53B8FF"/>
                </a:solidFill>
              </a:rPr>
              <a:t>4 · Pasquill–Gifford Dispersion Coefficients  σ_y, σ_z</a:t>
            </a:r>
            <a:endParaRPr/>
          </a:p>
        </p:txBody>
      </p:sp>
      <p:sp>
        <p:nvSpPr>
          <p:cNvPr id="556301442" name="TextBox 4"/>
          <p:cNvSpPr txBox="1"/>
          <p:nvPr/>
        </p:nvSpPr>
        <p:spPr bwMode="auto">
          <a:xfrm>
            <a:off x="365760" y="9144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1">
                <a:solidFill>
                  <a:srgbClr val="B0B8C8"/>
                </a:solidFill>
              </a:rPr>
              <a:t>x = downwind distance (m)     f_y, f_z = optional user scaling factors</a:t>
            </a:r>
            <a:endParaRPr/>
          </a:p>
        </p:txBody>
      </p:sp>
      <p:sp>
        <p:nvSpPr>
          <p:cNvPr id="1049188027" name="Rectangle 5"/>
          <p:cNvSpPr/>
          <p:nvPr/>
        </p:nvSpPr>
        <p:spPr bwMode="auto">
          <a:xfrm>
            <a:off x="914400" y="1325880"/>
            <a:ext cx="10698480" cy="502920"/>
          </a:xfrm>
          <a:prstGeom prst="rect">
            <a:avLst/>
          </a:prstGeom>
          <a:solidFill>
            <a:srgbClr val="53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4587731" name="TextBox 6"/>
          <p:cNvSpPr txBox="1"/>
          <p:nvPr/>
        </p:nvSpPr>
        <p:spPr bwMode="auto">
          <a:xfrm>
            <a:off x="960120" y="139903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400" b="1" i="0">
                <a:solidFill>
                  <a:srgbClr val="000000"/>
                </a:solidFill>
              </a:rPr>
              <a:t>Class</a:t>
            </a:r>
            <a:endParaRPr/>
          </a:p>
        </p:txBody>
      </p:sp>
      <p:sp>
        <p:nvSpPr>
          <p:cNvPr id="1455577267" name="TextBox 7"/>
          <p:cNvSpPr txBox="1"/>
          <p:nvPr/>
        </p:nvSpPr>
        <p:spPr bwMode="auto">
          <a:xfrm>
            <a:off x="1783080" y="139903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400" b="1" i="0">
                <a:solidFill>
                  <a:srgbClr val="000000"/>
                </a:solidFill>
              </a:rPr>
              <a:t>σ_y  (m)</a:t>
            </a:r>
            <a:endParaRPr/>
          </a:p>
        </p:txBody>
      </p:sp>
      <p:sp>
        <p:nvSpPr>
          <p:cNvPr id="1414491210" name="TextBox 8"/>
          <p:cNvSpPr txBox="1"/>
          <p:nvPr/>
        </p:nvSpPr>
        <p:spPr bwMode="auto">
          <a:xfrm>
            <a:off x="6720840" y="139903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400" b="1" i="0">
                <a:solidFill>
                  <a:srgbClr val="000000"/>
                </a:solidFill>
              </a:rPr>
              <a:t>σ_z  (m)</a:t>
            </a:r>
            <a:endParaRPr/>
          </a:p>
        </p:txBody>
      </p:sp>
      <p:sp>
        <p:nvSpPr>
          <p:cNvPr id="1755530601" name="Rectangle 9"/>
          <p:cNvSpPr/>
          <p:nvPr/>
        </p:nvSpPr>
        <p:spPr bwMode="auto">
          <a:xfrm>
            <a:off x="914400" y="1828800"/>
            <a:ext cx="1069848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814547" name="TextBox 10"/>
          <p:cNvSpPr txBox="1"/>
          <p:nvPr/>
        </p:nvSpPr>
        <p:spPr bwMode="auto">
          <a:xfrm>
            <a:off x="960120" y="19202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FF6B6B"/>
                </a:solidFill>
              </a:rPr>
              <a:t>A</a:t>
            </a:r>
            <a:endParaRPr/>
          </a:p>
        </p:txBody>
      </p:sp>
      <p:sp>
        <p:nvSpPr>
          <p:cNvPr id="1035539348" name="TextBox 11"/>
          <p:cNvSpPr txBox="1"/>
          <p:nvPr/>
        </p:nvSpPr>
        <p:spPr bwMode="auto">
          <a:xfrm>
            <a:off x="1783080" y="19202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0" i="0">
                <a:solidFill>
                  <a:srgbClr val="FFFFFF"/>
                </a:solidFill>
              </a:rPr>
              <a:t>0.22 x (1 + 0.0001x)^{-1/2}</a:t>
            </a:r>
            <a:endParaRPr/>
          </a:p>
        </p:txBody>
      </p:sp>
      <p:sp>
        <p:nvSpPr>
          <p:cNvPr id="940884095" name="TextBox 12"/>
          <p:cNvSpPr txBox="1"/>
          <p:nvPr/>
        </p:nvSpPr>
        <p:spPr bwMode="auto">
          <a:xfrm>
            <a:off x="6720840" y="19202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0" i="0">
                <a:solidFill>
                  <a:srgbClr val="FFFFFF"/>
                </a:solidFill>
              </a:rPr>
              <a:t>0.20 x</a:t>
            </a:r>
            <a:endParaRPr/>
          </a:p>
        </p:txBody>
      </p:sp>
      <p:sp>
        <p:nvSpPr>
          <p:cNvPr id="1866825925" name="Rectangle 13"/>
          <p:cNvSpPr/>
          <p:nvPr/>
        </p:nvSpPr>
        <p:spPr bwMode="auto">
          <a:xfrm>
            <a:off x="914400" y="2331720"/>
            <a:ext cx="10698480" cy="5029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539716" name="TextBox 14"/>
          <p:cNvSpPr txBox="1"/>
          <p:nvPr/>
        </p:nvSpPr>
        <p:spPr bwMode="auto">
          <a:xfrm>
            <a:off x="960120" y="242316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FFA500"/>
                </a:solidFill>
              </a:rPr>
              <a:t>B</a:t>
            </a:r>
            <a:endParaRPr/>
          </a:p>
        </p:txBody>
      </p:sp>
      <p:sp>
        <p:nvSpPr>
          <p:cNvPr id="1635410709" name="TextBox 15"/>
          <p:cNvSpPr txBox="1"/>
          <p:nvPr/>
        </p:nvSpPr>
        <p:spPr bwMode="auto">
          <a:xfrm>
            <a:off x="1783080" y="24231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0" i="0">
                <a:solidFill>
                  <a:srgbClr val="FFFFFF"/>
                </a:solidFill>
              </a:rPr>
              <a:t>0.16 x (1 + 0.0001x)^{-1/2}</a:t>
            </a:r>
            <a:endParaRPr/>
          </a:p>
        </p:txBody>
      </p:sp>
      <p:sp>
        <p:nvSpPr>
          <p:cNvPr id="659316289" name="TextBox 16"/>
          <p:cNvSpPr txBox="1"/>
          <p:nvPr/>
        </p:nvSpPr>
        <p:spPr bwMode="auto">
          <a:xfrm>
            <a:off x="6720840" y="24231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0" i="0">
                <a:solidFill>
                  <a:srgbClr val="FFFFFF"/>
                </a:solidFill>
              </a:rPr>
              <a:t>0.12 x</a:t>
            </a:r>
            <a:endParaRPr/>
          </a:p>
        </p:txBody>
      </p:sp>
      <p:sp>
        <p:nvSpPr>
          <p:cNvPr id="173575574" name="Rectangle 17"/>
          <p:cNvSpPr/>
          <p:nvPr/>
        </p:nvSpPr>
        <p:spPr bwMode="auto">
          <a:xfrm>
            <a:off x="914400" y="2834640"/>
            <a:ext cx="1069848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2472639" name="TextBox 18"/>
          <p:cNvSpPr txBox="1"/>
          <p:nvPr/>
        </p:nvSpPr>
        <p:spPr bwMode="auto">
          <a:xfrm>
            <a:off x="960120" y="292608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FFD700"/>
                </a:solidFill>
              </a:rPr>
              <a:t>C</a:t>
            </a:r>
            <a:endParaRPr/>
          </a:p>
        </p:txBody>
      </p:sp>
      <p:sp>
        <p:nvSpPr>
          <p:cNvPr id="1157643574" name="TextBox 19"/>
          <p:cNvSpPr txBox="1"/>
          <p:nvPr/>
        </p:nvSpPr>
        <p:spPr bwMode="auto">
          <a:xfrm>
            <a:off x="1783080" y="29260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0" i="0">
                <a:solidFill>
                  <a:srgbClr val="FFFFFF"/>
                </a:solidFill>
              </a:rPr>
              <a:t>0.11 x (1 + 0.0001x)^{-1/2}</a:t>
            </a:r>
            <a:endParaRPr/>
          </a:p>
        </p:txBody>
      </p:sp>
      <p:sp>
        <p:nvSpPr>
          <p:cNvPr id="1829633339" name="TextBox 20"/>
          <p:cNvSpPr txBox="1"/>
          <p:nvPr/>
        </p:nvSpPr>
        <p:spPr bwMode="auto">
          <a:xfrm>
            <a:off x="6720840" y="29260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0" i="0">
                <a:solidFill>
                  <a:srgbClr val="FFFFFF"/>
                </a:solidFill>
              </a:rPr>
              <a:t>0.08 x (1 + 0.0002x)^{-1/2}</a:t>
            </a:r>
            <a:endParaRPr/>
          </a:p>
        </p:txBody>
      </p:sp>
      <p:sp>
        <p:nvSpPr>
          <p:cNvPr id="1849446130" name="Rectangle 21"/>
          <p:cNvSpPr/>
          <p:nvPr/>
        </p:nvSpPr>
        <p:spPr bwMode="auto">
          <a:xfrm>
            <a:off x="914400" y="3337560"/>
            <a:ext cx="10698480" cy="5029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6367408" name="TextBox 22"/>
          <p:cNvSpPr txBox="1"/>
          <p:nvPr/>
        </p:nvSpPr>
        <p:spPr bwMode="auto">
          <a:xfrm>
            <a:off x="960120" y="34290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53B8FF"/>
                </a:solidFill>
              </a:rPr>
              <a:t>D</a:t>
            </a:r>
            <a:endParaRPr/>
          </a:p>
        </p:txBody>
      </p:sp>
      <p:sp>
        <p:nvSpPr>
          <p:cNvPr id="1828918115" name="TextBox 23"/>
          <p:cNvSpPr txBox="1"/>
          <p:nvPr/>
        </p:nvSpPr>
        <p:spPr bwMode="auto">
          <a:xfrm>
            <a:off x="1783080" y="34290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0" i="0">
                <a:solidFill>
                  <a:srgbClr val="FFFFFF"/>
                </a:solidFill>
              </a:rPr>
              <a:t>0.08 x (1 + 0.0001x)^{-1/2}</a:t>
            </a:r>
            <a:endParaRPr/>
          </a:p>
        </p:txBody>
      </p:sp>
      <p:sp>
        <p:nvSpPr>
          <p:cNvPr id="1820483642" name="TextBox 24"/>
          <p:cNvSpPr txBox="1"/>
          <p:nvPr/>
        </p:nvSpPr>
        <p:spPr bwMode="auto">
          <a:xfrm>
            <a:off x="6720840" y="34290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0" i="0">
                <a:solidFill>
                  <a:srgbClr val="FFFFFF"/>
                </a:solidFill>
              </a:rPr>
              <a:t>0.06 x (1 + 0.0015x)^{-1/2}</a:t>
            </a:r>
            <a:endParaRPr/>
          </a:p>
        </p:txBody>
      </p:sp>
      <p:sp>
        <p:nvSpPr>
          <p:cNvPr id="1663997118" name="Rectangle 25"/>
          <p:cNvSpPr/>
          <p:nvPr/>
        </p:nvSpPr>
        <p:spPr bwMode="auto">
          <a:xfrm>
            <a:off x="914400" y="3840480"/>
            <a:ext cx="1069848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7461271" name="TextBox 26"/>
          <p:cNvSpPr txBox="1"/>
          <p:nvPr/>
        </p:nvSpPr>
        <p:spPr bwMode="auto">
          <a:xfrm>
            <a:off x="960120" y="393192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A0FFA0"/>
                </a:solidFill>
              </a:rPr>
              <a:t>E</a:t>
            </a:r>
            <a:endParaRPr/>
          </a:p>
        </p:txBody>
      </p:sp>
      <p:sp>
        <p:nvSpPr>
          <p:cNvPr id="1282515449" name="TextBox 27"/>
          <p:cNvSpPr txBox="1"/>
          <p:nvPr/>
        </p:nvSpPr>
        <p:spPr bwMode="auto">
          <a:xfrm>
            <a:off x="1783080" y="39319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0" i="0">
                <a:solidFill>
                  <a:srgbClr val="FFFFFF"/>
                </a:solidFill>
              </a:rPr>
              <a:t>0.06 x (1 + 0.0001x)^{-1/2}</a:t>
            </a:r>
            <a:endParaRPr/>
          </a:p>
        </p:txBody>
      </p:sp>
      <p:sp>
        <p:nvSpPr>
          <p:cNvPr id="1565669436" name="TextBox 28"/>
          <p:cNvSpPr txBox="1"/>
          <p:nvPr/>
        </p:nvSpPr>
        <p:spPr bwMode="auto">
          <a:xfrm>
            <a:off x="6720840" y="39319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0" i="0">
                <a:solidFill>
                  <a:srgbClr val="FFFFFF"/>
                </a:solidFill>
              </a:rPr>
              <a:t>0.03 x (1 + 0.0003x)^{-1}</a:t>
            </a:r>
            <a:endParaRPr/>
          </a:p>
        </p:txBody>
      </p:sp>
      <p:sp>
        <p:nvSpPr>
          <p:cNvPr id="824307109" name="Rectangle 29"/>
          <p:cNvSpPr/>
          <p:nvPr/>
        </p:nvSpPr>
        <p:spPr bwMode="auto">
          <a:xfrm>
            <a:off x="914400" y="4343400"/>
            <a:ext cx="10698480" cy="5029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5843252" name="TextBox 30"/>
          <p:cNvSpPr txBox="1"/>
          <p:nvPr/>
        </p:nvSpPr>
        <p:spPr bwMode="auto">
          <a:xfrm>
            <a:off x="960120" y="44348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D0D0FF"/>
                </a:solidFill>
              </a:rPr>
              <a:t>F</a:t>
            </a:r>
            <a:endParaRPr/>
          </a:p>
        </p:txBody>
      </p:sp>
      <p:sp>
        <p:nvSpPr>
          <p:cNvPr id="1368701456" name="TextBox 31"/>
          <p:cNvSpPr txBox="1"/>
          <p:nvPr/>
        </p:nvSpPr>
        <p:spPr bwMode="auto">
          <a:xfrm>
            <a:off x="1783080" y="44348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0" i="0">
                <a:solidFill>
                  <a:srgbClr val="FFFFFF"/>
                </a:solidFill>
              </a:rPr>
              <a:t>0.04 x (1 + 0.0001x)^{-1/2}</a:t>
            </a:r>
            <a:endParaRPr/>
          </a:p>
        </p:txBody>
      </p:sp>
      <p:sp>
        <p:nvSpPr>
          <p:cNvPr id="157635974" name="TextBox 32"/>
          <p:cNvSpPr txBox="1"/>
          <p:nvPr/>
        </p:nvSpPr>
        <p:spPr bwMode="auto">
          <a:xfrm>
            <a:off x="6720840" y="44348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0" i="0">
                <a:solidFill>
                  <a:srgbClr val="FFFFFF"/>
                </a:solidFill>
              </a:rPr>
              <a:t>0.016 x (1 + 0.0003x)^{-1}</a:t>
            </a:r>
            <a:endParaRPr/>
          </a:p>
        </p:txBody>
      </p:sp>
      <p:pic>
        <p:nvPicPr>
          <p:cNvPr id="1561855999" name="Picture 3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679696" y="6019800"/>
            <a:ext cx="2829560" cy="487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1811890" name="Rectangle 1"/>
          <p:cNvSpPr/>
          <p:nvPr/>
        </p:nvSpPr>
        <p:spPr bwMode="auto">
          <a:xfrm>
            <a:off x="0" y="0"/>
            <a:ext cx="12188952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3941614" name="Rectangle 2"/>
          <p:cNvSpPr/>
          <p:nvPr/>
        </p:nvSpPr>
        <p:spPr bwMode="auto">
          <a:xfrm>
            <a:off x="0" y="0"/>
            <a:ext cx="54864" cy="777240"/>
          </a:xfrm>
          <a:prstGeom prst="rect">
            <a:avLst/>
          </a:prstGeom>
          <a:solidFill>
            <a:srgbClr val="53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9219389" name="TextBox 3"/>
          <p:cNvSpPr txBox="1"/>
          <p:nvPr/>
        </p:nvSpPr>
        <p:spPr bwMode="auto">
          <a:xfrm>
            <a:off x="164592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53B8FF"/>
                </a:solidFill>
              </a:rPr>
              <a:t>5 · Gaussian Plume Concentration</a:t>
            </a:r>
            <a:endParaRPr/>
          </a:p>
        </p:txBody>
      </p:sp>
      <p:pic>
        <p:nvPicPr>
          <p:cNvPr id="205465522" name="Picture 4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10636" y="1386840"/>
            <a:ext cx="5567680" cy="883920"/>
          </a:xfrm>
          <a:prstGeom prst="rect">
            <a:avLst/>
          </a:prstGeom>
        </p:spPr>
      </p:pic>
      <p:sp>
        <p:nvSpPr>
          <p:cNvPr id="770474692" name="TextBox 5"/>
          <p:cNvSpPr txBox="1"/>
          <p:nvPr/>
        </p:nvSpPr>
        <p:spPr bwMode="auto">
          <a:xfrm>
            <a:off x="45720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500" b="0" i="0">
                <a:solidFill>
                  <a:srgbClr val="B0B8C8"/>
                </a:solidFill>
              </a:rPr>
              <a:t>Vertical term  T_z  —  with ground reflection (image source at –H):</a:t>
            </a:r>
            <a:endParaRPr/>
          </a:p>
        </p:txBody>
      </p:sp>
      <p:pic>
        <p:nvPicPr>
          <p:cNvPr id="1138038461" name="Picture 6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463036" y="3129280"/>
            <a:ext cx="5262880" cy="782320"/>
          </a:xfrm>
          <a:prstGeom prst="rect">
            <a:avLst/>
          </a:prstGeom>
        </p:spPr>
      </p:pic>
      <p:pic>
        <p:nvPicPr>
          <p:cNvPr id="730757831" name="Picture 7" descr="imag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037836" y="4239260"/>
            <a:ext cx="2113280" cy="482600"/>
          </a:xfrm>
          <a:prstGeom prst="rect">
            <a:avLst/>
          </a:prstGeom>
        </p:spPr>
      </p:pic>
      <p:sp>
        <p:nvSpPr>
          <p:cNvPr id="488991607" name="TextBox 8"/>
          <p:cNvSpPr txBox="1"/>
          <p:nvPr/>
        </p:nvSpPr>
        <p:spPr bwMode="auto">
          <a:xfrm>
            <a:off x="548640" y="5212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53B8FF"/>
                </a:solidFill>
              </a:rPr>
              <a:t>Q</a:t>
            </a:r>
            <a:endParaRPr/>
          </a:p>
        </p:txBody>
      </p:sp>
      <p:sp>
        <p:nvSpPr>
          <p:cNvPr id="168798721" name="TextBox 9"/>
          <p:cNvSpPr txBox="1"/>
          <p:nvPr/>
        </p:nvSpPr>
        <p:spPr bwMode="auto">
          <a:xfrm>
            <a:off x="1234440" y="5212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B0B8C8"/>
                </a:solidFill>
              </a:rPr>
              <a:t>Emission rate  [kg/s]</a:t>
            </a:r>
            <a:endParaRPr/>
          </a:p>
        </p:txBody>
      </p:sp>
      <p:sp>
        <p:nvSpPr>
          <p:cNvPr id="1247778591" name="TextBox 10"/>
          <p:cNvSpPr txBox="1"/>
          <p:nvPr/>
        </p:nvSpPr>
        <p:spPr bwMode="auto">
          <a:xfrm>
            <a:off x="548640" y="55595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53B8FF"/>
                </a:solidFill>
              </a:rPr>
              <a:t>u</a:t>
            </a:r>
            <a:endParaRPr/>
          </a:p>
        </p:txBody>
      </p:sp>
      <p:sp>
        <p:nvSpPr>
          <p:cNvPr id="492057407" name="TextBox 11"/>
          <p:cNvSpPr txBox="1"/>
          <p:nvPr/>
        </p:nvSpPr>
        <p:spPr bwMode="auto">
          <a:xfrm>
            <a:off x="1234440" y="55595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B0B8C8"/>
                </a:solidFill>
              </a:rPr>
              <a:t>Wind speed at effective height  [m/s]</a:t>
            </a:r>
            <a:endParaRPr/>
          </a:p>
        </p:txBody>
      </p:sp>
      <p:sp>
        <p:nvSpPr>
          <p:cNvPr id="567892704" name="TextBox 12"/>
          <p:cNvSpPr txBox="1"/>
          <p:nvPr/>
        </p:nvSpPr>
        <p:spPr bwMode="auto">
          <a:xfrm>
            <a:off x="548640" y="590702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53B8FF"/>
                </a:solidFill>
              </a:rPr>
              <a:t>H</a:t>
            </a:r>
            <a:endParaRPr/>
          </a:p>
        </p:txBody>
      </p:sp>
      <p:sp>
        <p:nvSpPr>
          <p:cNvPr id="1292664601" name="TextBox 13"/>
          <p:cNvSpPr txBox="1"/>
          <p:nvPr/>
        </p:nvSpPr>
        <p:spPr bwMode="auto">
          <a:xfrm>
            <a:off x="1234440" y="59070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B0B8C8"/>
                </a:solidFill>
              </a:rPr>
              <a:t>Effective stack height  [m]</a:t>
            </a:r>
            <a:endParaRPr/>
          </a:p>
        </p:txBody>
      </p:sp>
      <p:sp>
        <p:nvSpPr>
          <p:cNvPr id="799208898" name="TextBox 14"/>
          <p:cNvSpPr txBox="1"/>
          <p:nvPr/>
        </p:nvSpPr>
        <p:spPr bwMode="auto">
          <a:xfrm>
            <a:off x="548640" y="6254496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53B8FF"/>
                </a:solidFill>
              </a:rPr>
              <a:t>z</a:t>
            </a:r>
            <a:endParaRPr/>
          </a:p>
        </p:txBody>
      </p:sp>
      <p:sp>
        <p:nvSpPr>
          <p:cNvPr id="56122217" name="TextBox 15"/>
          <p:cNvSpPr txBox="1"/>
          <p:nvPr/>
        </p:nvSpPr>
        <p:spPr bwMode="auto">
          <a:xfrm>
            <a:off x="1234440" y="625449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B0B8C8"/>
                </a:solidFill>
              </a:rPr>
              <a:t>Receptor height  [m]</a:t>
            </a:r>
            <a:endParaRPr/>
          </a:p>
        </p:txBody>
      </p:sp>
      <p:sp>
        <p:nvSpPr>
          <p:cNvPr id="1786434302" name="TextBox 16"/>
          <p:cNvSpPr txBox="1"/>
          <p:nvPr/>
        </p:nvSpPr>
        <p:spPr bwMode="auto">
          <a:xfrm>
            <a:off x="6217920" y="5212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53B8FF"/>
                </a:solidFill>
              </a:rPr>
              <a:t>σ_y</a:t>
            </a:r>
            <a:endParaRPr/>
          </a:p>
        </p:txBody>
      </p:sp>
      <p:sp>
        <p:nvSpPr>
          <p:cNvPr id="731170394" name="TextBox 17"/>
          <p:cNvSpPr txBox="1"/>
          <p:nvPr/>
        </p:nvSpPr>
        <p:spPr bwMode="auto">
          <a:xfrm>
            <a:off x="6995160" y="5212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B0B8C8"/>
                </a:solidFill>
              </a:rPr>
              <a:t>Lateral spread  [m]</a:t>
            </a:r>
            <a:endParaRPr/>
          </a:p>
        </p:txBody>
      </p:sp>
      <p:sp>
        <p:nvSpPr>
          <p:cNvPr id="727738453" name="TextBox 18"/>
          <p:cNvSpPr txBox="1"/>
          <p:nvPr/>
        </p:nvSpPr>
        <p:spPr bwMode="auto">
          <a:xfrm>
            <a:off x="6217920" y="55595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53B8FF"/>
                </a:solidFill>
              </a:rPr>
              <a:t>σ_z</a:t>
            </a:r>
            <a:endParaRPr/>
          </a:p>
        </p:txBody>
      </p:sp>
      <p:sp>
        <p:nvSpPr>
          <p:cNvPr id="1208042633" name="TextBox 19"/>
          <p:cNvSpPr txBox="1"/>
          <p:nvPr/>
        </p:nvSpPr>
        <p:spPr bwMode="auto">
          <a:xfrm>
            <a:off x="6995160" y="55595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B0B8C8"/>
                </a:solidFill>
              </a:rPr>
              <a:t>Vertical spread  [m]</a:t>
            </a:r>
            <a:endParaRPr/>
          </a:p>
        </p:txBody>
      </p:sp>
      <p:sp>
        <p:nvSpPr>
          <p:cNvPr id="1215467472" name="TextBox 20"/>
          <p:cNvSpPr txBox="1"/>
          <p:nvPr/>
        </p:nvSpPr>
        <p:spPr bwMode="auto">
          <a:xfrm>
            <a:off x="6217920" y="590702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53B8FF"/>
                </a:solidFill>
              </a:rPr>
              <a:t>y</a:t>
            </a:r>
            <a:endParaRPr/>
          </a:p>
        </p:txBody>
      </p:sp>
      <p:sp>
        <p:nvSpPr>
          <p:cNvPr id="1358468551" name="TextBox 21"/>
          <p:cNvSpPr txBox="1"/>
          <p:nvPr/>
        </p:nvSpPr>
        <p:spPr bwMode="auto">
          <a:xfrm>
            <a:off x="6995160" y="59070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B0B8C8"/>
                </a:solidFill>
              </a:rPr>
              <a:t>Crosswind offset  [m]</a:t>
            </a:r>
            <a:endParaRPr/>
          </a:p>
        </p:txBody>
      </p:sp>
      <p:sp>
        <p:nvSpPr>
          <p:cNvPr id="640386593" name="TextBox 22"/>
          <p:cNvSpPr txBox="1"/>
          <p:nvPr/>
        </p:nvSpPr>
        <p:spPr bwMode="auto">
          <a:xfrm>
            <a:off x="6217920" y="625449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53B8FF"/>
                </a:solidFill>
              </a:rPr>
              <a:t>x</a:t>
            </a:r>
            <a:endParaRPr/>
          </a:p>
        </p:txBody>
      </p:sp>
      <p:sp>
        <p:nvSpPr>
          <p:cNvPr id="1202372657" name="TextBox 23"/>
          <p:cNvSpPr txBox="1"/>
          <p:nvPr/>
        </p:nvSpPr>
        <p:spPr bwMode="auto">
          <a:xfrm>
            <a:off x="6995160" y="625449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B0B8C8"/>
                </a:solidFill>
              </a:rPr>
              <a:t>Downwind distance  [m]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5181086" name="Rectangle 1"/>
          <p:cNvSpPr/>
          <p:nvPr/>
        </p:nvSpPr>
        <p:spPr bwMode="auto">
          <a:xfrm>
            <a:off x="0" y="0"/>
            <a:ext cx="12188952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3731020" name="Rectangle 2"/>
          <p:cNvSpPr/>
          <p:nvPr/>
        </p:nvSpPr>
        <p:spPr bwMode="auto">
          <a:xfrm>
            <a:off x="0" y="0"/>
            <a:ext cx="54864" cy="777240"/>
          </a:xfrm>
          <a:prstGeom prst="rect">
            <a:avLst/>
          </a:prstGeom>
          <a:solidFill>
            <a:srgbClr val="53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0065665" name="TextBox 3"/>
          <p:cNvSpPr txBox="1"/>
          <p:nvPr/>
        </p:nvSpPr>
        <p:spPr bwMode="auto">
          <a:xfrm>
            <a:off x="164592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53B8FF"/>
                </a:solidFill>
              </a:rPr>
              <a:t>6 · Optional Exponential Attenuations</a:t>
            </a:r>
            <a:endParaRPr/>
          </a:p>
        </p:txBody>
      </p:sp>
      <p:sp>
        <p:nvSpPr>
          <p:cNvPr id="751666274" name="Rectangle 4"/>
          <p:cNvSpPr/>
          <p:nvPr/>
        </p:nvSpPr>
        <p:spPr bwMode="auto">
          <a:xfrm>
            <a:off x="274320" y="960120"/>
            <a:ext cx="11612880" cy="914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8945214" name="TextBox 5"/>
          <p:cNvSpPr txBox="1"/>
          <p:nvPr/>
        </p:nvSpPr>
        <p:spPr bwMode="auto">
          <a:xfrm>
            <a:off x="36576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700" b="1" i="0">
                <a:solidFill>
                  <a:srgbClr val="53B8FF"/>
                </a:solidFill>
              </a:rPr>
              <a:t>Chemical / radioactive decay   (first-order, rate  λ  [1/s])</a:t>
            </a:r>
            <a:endParaRPr/>
          </a:p>
        </p:txBody>
      </p:sp>
      <p:pic>
        <p:nvPicPr>
          <p:cNvPr id="699721831" name="Picture 6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649216" y="1658620"/>
            <a:ext cx="2890520" cy="614680"/>
          </a:xfrm>
          <a:prstGeom prst="rect">
            <a:avLst/>
          </a:prstGeom>
        </p:spPr>
      </p:pic>
      <p:sp>
        <p:nvSpPr>
          <p:cNvPr id="2145214954" name="TextBox 7"/>
          <p:cNvSpPr txBox="1"/>
          <p:nvPr/>
        </p:nvSpPr>
        <p:spPr bwMode="auto">
          <a:xfrm>
            <a:off x="365760" y="2651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0" i="1">
                <a:solidFill>
                  <a:srgbClr val="B0B8C8"/>
                </a:solidFill>
              </a:rPr>
              <a:t>Travel time  τ = x/u  converts the spatial coordinate to time for first-order kinetics.</a:t>
            </a:r>
            <a:endParaRPr/>
          </a:p>
        </p:txBody>
      </p:sp>
      <p:sp>
        <p:nvSpPr>
          <p:cNvPr id="96776124" name="Rectangle 8"/>
          <p:cNvSpPr/>
          <p:nvPr/>
        </p:nvSpPr>
        <p:spPr bwMode="auto">
          <a:xfrm>
            <a:off x="274320" y="3154680"/>
            <a:ext cx="11612880" cy="914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7471969" name="TextBox 9"/>
          <p:cNvSpPr txBox="1"/>
          <p:nvPr/>
        </p:nvSpPr>
        <p:spPr bwMode="auto">
          <a:xfrm>
            <a:off x="365760" y="3200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700" b="1" i="0">
                <a:solidFill>
                  <a:srgbClr val="53B8FF"/>
                </a:solidFill>
              </a:rPr>
              <a:t>Dry deposition   (velocity  v_d  [m/s],  mixing height  h_m  [m])</a:t>
            </a:r>
            <a:endParaRPr/>
          </a:p>
        </p:txBody>
      </p:sp>
      <p:pic>
        <p:nvPicPr>
          <p:cNvPr id="368503042" name="Picture 10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044696" y="3812540"/>
            <a:ext cx="4099560" cy="695960"/>
          </a:xfrm>
          <a:prstGeom prst="rect">
            <a:avLst/>
          </a:prstGeom>
        </p:spPr>
      </p:pic>
      <p:sp>
        <p:nvSpPr>
          <p:cNvPr id="961814198" name="TextBox 11"/>
          <p:cNvSpPr txBox="1"/>
          <p:nvPr/>
        </p:nvSpPr>
        <p:spPr bwMode="auto">
          <a:xfrm>
            <a:off x="365760" y="4892039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0" i="1">
                <a:solidFill>
                  <a:srgbClr val="B0B8C8"/>
                </a:solidFill>
              </a:rPr>
              <a:t>Models vertically-uniform removal within the mixing layer (box approximation).</a:t>
            </a:r>
            <a:endParaRPr/>
          </a:p>
        </p:txBody>
      </p:sp>
      <p:sp>
        <p:nvSpPr>
          <p:cNvPr id="1287057150" name="Rectangle 12"/>
          <p:cNvSpPr/>
          <p:nvPr/>
        </p:nvSpPr>
        <p:spPr bwMode="auto">
          <a:xfrm>
            <a:off x="274320" y="5394960"/>
            <a:ext cx="11612880" cy="914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0570337" name="TextBox 13"/>
          <p:cNvSpPr txBox="1"/>
          <p:nvPr/>
        </p:nvSpPr>
        <p:spPr bwMode="auto">
          <a:xfrm>
            <a:off x="365760" y="5440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700" b="1" i="0">
                <a:solidFill>
                  <a:srgbClr val="53B8FF"/>
                </a:solidFill>
              </a:rPr>
              <a:t>Total concentration at receptor  (sum over all emittors)</a:t>
            </a:r>
            <a:endParaRPr/>
          </a:p>
        </p:txBody>
      </p:sp>
      <p:pic>
        <p:nvPicPr>
          <p:cNvPr id="1459827954" name="Picture 14" descr="imag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242816" y="5745480"/>
            <a:ext cx="3703320" cy="762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329482" name="Rectangle 1"/>
          <p:cNvSpPr/>
          <p:nvPr/>
        </p:nvSpPr>
        <p:spPr bwMode="auto">
          <a:xfrm>
            <a:off x="0" y="0"/>
            <a:ext cx="12188952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8950430" name="Rectangle 2"/>
          <p:cNvSpPr/>
          <p:nvPr/>
        </p:nvSpPr>
        <p:spPr bwMode="auto">
          <a:xfrm>
            <a:off x="0" y="0"/>
            <a:ext cx="54864" cy="777240"/>
          </a:xfrm>
          <a:prstGeom prst="rect">
            <a:avLst/>
          </a:prstGeom>
          <a:solidFill>
            <a:srgbClr val="53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301797" name="TextBox 3"/>
          <p:cNvSpPr txBox="1"/>
          <p:nvPr/>
        </p:nvSpPr>
        <p:spPr bwMode="auto">
          <a:xfrm>
            <a:off x="164592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53B8FF"/>
                </a:solidFill>
              </a:rPr>
              <a:t>7 · Model Assumptions &amp; Limitations</a:t>
            </a:r>
            <a:endParaRPr/>
          </a:p>
        </p:txBody>
      </p:sp>
      <p:sp>
        <p:nvSpPr>
          <p:cNvPr id="1612197517" name="Rectangle 4"/>
          <p:cNvSpPr/>
          <p:nvPr/>
        </p:nvSpPr>
        <p:spPr bwMode="auto">
          <a:xfrm>
            <a:off x="274320" y="1005840"/>
            <a:ext cx="64008" cy="347472"/>
          </a:xfrm>
          <a:prstGeom prst="rect">
            <a:avLst/>
          </a:prstGeom>
          <a:solidFill>
            <a:srgbClr val="53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3375273" name="TextBox 5"/>
          <p:cNvSpPr txBox="1"/>
          <p:nvPr/>
        </p:nvSpPr>
        <p:spPr bwMode="auto">
          <a:xfrm>
            <a:off x="457200" y="10058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FFD700"/>
                </a:solidFill>
              </a:rPr>
              <a:t>Steady-state</a:t>
            </a:r>
            <a:endParaRPr/>
          </a:p>
        </p:txBody>
      </p:sp>
      <p:sp>
        <p:nvSpPr>
          <p:cNvPr id="199038362" name="TextBox 6"/>
          <p:cNvSpPr txBox="1"/>
          <p:nvPr/>
        </p:nvSpPr>
        <p:spPr bwMode="auto">
          <a:xfrm>
            <a:off x="3429000" y="100584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B0B8C8"/>
                </a:solidFill>
              </a:rPr>
              <a:t>No time-of-flight: emissions are assumed to have reached steady state at each hour.</a:t>
            </a:r>
            <a:endParaRPr/>
          </a:p>
        </p:txBody>
      </p:sp>
      <p:sp>
        <p:nvSpPr>
          <p:cNvPr id="1241224180" name="Rectangle 7"/>
          <p:cNvSpPr/>
          <p:nvPr/>
        </p:nvSpPr>
        <p:spPr bwMode="auto">
          <a:xfrm>
            <a:off x="274320" y="1664208"/>
            <a:ext cx="64008" cy="347472"/>
          </a:xfrm>
          <a:prstGeom prst="rect">
            <a:avLst/>
          </a:prstGeom>
          <a:solidFill>
            <a:srgbClr val="53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639017" name="TextBox 8"/>
          <p:cNvSpPr txBox="1"/>
          <p:nvPr/>
        </p:nvSpPr>
        <p:spPr bwMode="auto">
          <a:xfrm>
            <a:off x="457200" y="166420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FFD700"/>
                </a:solidFill>
              </a:rPr>
              <a:t>Homogeneous wind</a:t>
            </a:r>
            <a:endParaRPr/>
          </a:p>
        </p:txBody>
      </p:sp>
      <p:sp>
        <p:nvSpPr>
          <p:cNvPr id="1837154574" name="TextBox 9"/>
          <p:cNvSpPr txBox="1"/>
          <p:nvPr/>
        </p:nvSpPr>
        <p:spPr bwMode="auto">
          <a:xfrm>
            <a:off x="3429000" y="1664208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B0B8C8"/>
                </a:solidFill>
              </a:rPr>
              <a:t>Speed and direction are uniform across the entire domain at each time step.</a:t>
            </a:r>
            <a:endParaRPr/>
          </a:p>
        </p:txBody>
      </p:sp>
      <p:sp>
        <p:nvSpPr>
          <p:cNvPr id="2081623604" name="Rectangle 10"/>
          <p:cNvSpPr/>
          <p:nvPr/>
        </p:nvSpPr>
        <p:spPr bwMode="auto">
          <a:xfrm>
            <a:off x="274320" y="2322576"/>
            <a:ext cx="64008" cy="347472"/>
          </a:xfrm>
          <a:prstGeom prst="rect">
            <a:avLst/>
          </a:prstGeom>
          <a:solidFill>
            <a:srgbClr val="53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4683667" name="TextBox 11"/>
          <p:cNvSpPr txBox="1"/>
          <p:nvPr/>
        </p:nvSpPr>
        <p:spPr bwMode="auto">
          <a:xfrm>
            <a:off x="457200" y="232257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FFD700"/>
                </a:solidFill>
              </a:rPr>
              <a:t>Flat terrain</a:t>
            </a:r>
            <a:endParaRPr/>
          </a:p>
        </p:txBody>
      </p:sp>
      <p:sp>
        <p:nvSpPr>
          <p:cNvPr id="416647096" name="TextBox 12"/>
          <p:cNvSpPr txBox="1"/>
          <p:nvPr/>
        </p:nvSpPr>
        <p:spPr bwMode="auto">
          <a:xfrm>
            <a:off x="3429000" y="2322576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B0B8C8"/>
                </a:solidFill>
              </a:rPr>
              <a:t>No topography, buildings, or obstacles deflect or shelter the plume.</a:t>
            </a:r>
            <a:endParaRPr/>
          </a:p>
        </p:txBody>
      </p:sp>
      <p:sp>
        <p:nvSpPr>
          <p:cNvPr id="165885963" name="Rectangle 13"/>
          <p:cNvSpPr/>
          <p:nvPr/>
        </p:nvSpPr>
        <p:spPr bwMode="auto">
          <a:xfrm>
            <a:off x="274320" y="2980944"/>
            <a:ext cx="64008" cy="347472"/>
          </a:xfrm>
          <a:prstGeom prst="rect">
            <a:avLst/>
          </a:prstGeom>
          <a:solidFill>
            <a:srgbClr val="53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1706064" name="TextBox 14"/>
          <p:cNvSpPr txBox="1"/>
          <p:nvPr/>
        </p:nvSpPr>
        <p:spPr bwMode="auto">
          <a:xfrm>
            <a:off x="457200" y="29809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FFD700"/>
                </a:solidFill>
              </a:rPr>
              <a:t>Perfect ground reflection</a:t>
            </a:r>
            <a:endParaRPr/>
          </a:p>
        </p:txBody>
      </p:sp>
      <p:sp>
        <p:nvSpPr>
          <p:cNvPr id="984805907" name="TextBox 15"/>
          <p:cNvSpPr txBox="1"/>
          <p:nvPr/>
        </p:nvSpPr>
        <p:spPr bwMode="auto">
          <a:xfrm>
            <a:off x="3429000" y="2980944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B0B8C8"/>
                </a:solidFill>
              </a:rPr>
              <a:t>Image source at –H enforces zero vertical flux at z = 0 (no absorption).</a:t>
            </a:r>
            <a:endParaRPr/>
          </a:p>
        </p:txBody>
      </p:sp>
      <p:sp>
        <p:nvSpPr>
          <p:cNvPr id="1732556164" name="Rectangle 16"/>
          <p:cNvSpPr/>
          <p:nvPr/>
        </p:nvSpPr>
        <p:spPr bwMode="auto">
          <a:xfrm>
            <a:off x="274320" y="3639312"/>
            <a:ext cx="64008" cy="347472"/>
          </a:xfrm>
          <a:prstGeom prst="rect">
            <a:avLst/>
          </a:prstGeom>
          <a:solidFill>
            <a:srgbClr val="53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2296128" name="TextBox 17"/>
          <p:cNvSpPr txBox="1"/>
          <p:nvPr/>
        </p:nvSpPr>
        <p:spPr bwMode="auto">
          <a:xfrm>
            <a:off x="457200" y="363931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FFD700"/>
                </a:solidFill>
              </a:rPr>
              <a:t>Prescribed plume rise</a:t>
            </a:r>
            <a:endParaRPr/>
          </a:p>
        </p:txBody>
      </p:sp>
      <p:sp>
        <p:nvSpPr>
          <p:cNvPr id="1535394980" name="TextBox 18"/>
          <p:cNvSpPr txBox="1"/>
          <p:nvPr/>
        </p:nvSpPr>
        <p:spPr bwMode="auto">
          <a:xfrm>
            <a:off x="3429000" y="363931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B0B8C8"/>
                </a:solidFill>
              </a:rPr>
              <a:t>ΔH is user-entered; Briggs' momentum / buoyancy rise is not computed.</a:t>
            </a:r>
            <a:endParaRPr/>
          </a:p>
        </p:txBody>
      </p:sp>
      <p:sp>
        <p:nvSpPr>
          <p:cNvPr id="1647524829" name="Rectangle 19"/>
          <p:cNvSpPr/>
          <p:nvPr/>
        </p:nvSpPr>
        <p:spPr bwMode="auto">
          <a:xfrm>
            <a:off x="274320" y="4297680"/>
            <a:ext cx="64008" cy="347472"/>
          </a:xfrm>
          <a:prstGeom prst="rect">
            <a:avLst/>
          </a:prstGeom>
          <a:solidFill>
            <a:srgbClr val="53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4686432" name="TextBox 20"/>
          <p:cNvSpPr txBox="1"/>
          <p:nvPr/>
        </p:nvSpPr>
        <p:spPr bwMode="auto">
          <a:xfrm>
            <a:off x="457200" y="42976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FFD700"/>
                </a:solidFill>
              </a:rPr>
              <a:t>Averaged wind speed for σ</a:t>
            </a:r>
            <a:endParaRPr/>
          </a:p>
        </p:txBody>
      </p:sp>
      <p:sp>
        <p:nvSpPr>
          <p:cNvPr id="1969040761" name="TextBox 21"/>
          <p:cNvSpPr txBox="1"/>
          <p:nvPr/>
        </p:nvSpPr>
        <p:spPr bwMode="auto">
          <a:xfrm>
            <a:off x="3429000" y="429768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B0B8C8"/>
                </a:solidFill>
              </a:rPr>
              <a:t>Stability class uses the mean wind speed across all emittors.</a:t>
            </a:r>
            <a:endParaRPr/>
          </a:p>
        </p:txBody>
      </p:sp>
      <p:sp>
        <p:nvSpPr>
          <p:cNvPr id="605268544" name="Rectangle 22"/>
          <p:cNvSpPr/>
          <p:nvPr/>
        </p:nvSpPr>
        <p:spPr bwMode="auto">
          <a:xfrm>
            <a:off x="274320" y="4956048"/>
            <a:ext cx="64008" cy="347472"/>
          </a:xfrm>
          <a:prstGeom prst="rect">
            <a:avLst/>
          </a:prstGeom>
          <a:solidFill>
            <a:srgbClr val="53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2592112" name="TextBox 23"/>
          <p:cNvSpPr txBox="1"/>
          <p:nvPr/>
        </p:nvSpPr>
        <p:spPr bwMode="auto">
          <a:xfrm>
            <a:off x="457200" y="495604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FFD700"/>
                </a:solidFill>
              </a:rPr>
              <a:t>P-G coefficients</a:t>
            </a:r>
            <a:endParaRPr/>
          </a:p>
        </p:txBody>
      </p:sp>
      <p:sp>
        <p:nvSpPr>
          <p:cNvPr id="844164168" name="TextBox 24"/>
          <p:cNvSpPr txBox="1"/>
          <p:nvPr/>
        </p:nvSpPr>
        <p:spPr bwMode="auto">
          <a:xfrm>
            <a:off x="3429000" y="4956048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B0B8C8"/>
                </a:solidFill>
              </a:rPr>
              <a:t>Generic open-terrain Pasquill–Gifford values; not the Polish regulatory set.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2026-06-02T19:33:14Z</dcterms:modified>
  <cp:category/>
</cp:coreProperties>
</file>